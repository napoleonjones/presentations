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72" r:id="rId7"/>
    <p:sldId id="273" r:id="rId8"/>
    <p:sldId id="262" r:id="rId9"/>
    <p:sldId id="264" r:id="rId10"/>
    <p:sldId id="277" r:id="rId11"/>
    <p:sldId id="263" r:id="rId12"/>
    <p:sldId id="265" r:id="rId13"/>
    <p:sldId id="266" r:id="rId14"/>
    <p:sldId id="267" r:id="rId15"/>
    <p:sldId id="276" r:id="rId16"/>
    <p:sldId id="278" r:id="rId17"/>
    <p:sldId id="270" r:id="rId18"/>
    <p:sldId id="268" r:id="rId19"/>
    <p:sldId id="275" r:id="rId20"/>
    <p:sldId id="269" r:id="rId21"/>
    <p:sldId id="261" r:id="rId22"/>
    <p:sldId id="271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554" autoAdjust="0"/>
  </p:normalViewPr>
  <p:slideViewPr>
    <p:cSldViewPr snapToGrid="0">
      <p:cViewPr varScale="1">
        <p:scale>
          <a:sx n="77" d="100"/>
          <a:sy n="77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B41AF-979A-4B95-938D-2D9DCAF7143D}" type="datetimeFigureOut">
              <a:rPr lang="en-US" smtClean="0"/>
              <a:t>12/13/2019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54E59-E986-459D-A5DB-DDDDEF2D2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131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Agile forgot about Operations.  Software Developers were moving at a faster pace, but Ops still lagged behind.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54E59-E986-459D-A5DB-DDDDEF2D26C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43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few years later we went back for him</a:t>
            </a:r>
          </a:p>
          <a:p>
            <a:r>
              <a:rPr lang="en-US" dirty="0"/>
              <a:t>This is when ops was brought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54E59-E986-459D-A5DB-DDDDEF2D26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482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about NFT, what we were building, the agency’s first big agile project.  The manual deployments.  The stress, the hours worked, the arguments,</a:t>
            </a:r>
          </a:p>
          <a:p>
            <a:endParaRPr lang="en-US" dirty="0"/>
          </a:p>
          <a:p>
            <a:r>
              <a:rPr lang="en-US" dirty="0"/>
              <a:t>BEGIN TALKING ABOUT HOW I DISCOVERED DEVOPS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54E59-E986-459D-A5DB-DDDDEF2D26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47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took the red pill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54E59-E986-459D-A5DB-DDDDEF2D26C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42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begins my personal DevOps Journey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54E59-E986-459D-A5DB-DDDDEF2D26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34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became a power point professional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54E59-E986-459D-A5DB-DDDDEF2D26C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19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Shadow IT, risk, compliance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54E59-E986-459D-A5DB-DDDDEF2D26C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145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matter what we did, we couldn’t get more than 6ft, 1.8288 meters, off the ground.</a:t>
            </a:r>
          </a:p>
          <a:p>
            <a:r>
              <a:rPr lang="en-US" dirty="0"/>
              <a:t>WE could implement Git, but couldn’t implement proper CI/CD or automated deployments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54E59-E986-459D-A5DB-DDDDEF2D26C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14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just ended up being too much.  To keep pushing was an </a:t>
            </a:r>
            <a:r>
              <a:rPr lang="en-US" dirty="0" err="1"/>
              <a:t>excersice</a:t>
            </a:r>
            <a:r>
              <a:rPr lang="en-US" dirty="0"/>
              <a:t> in insanity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54E59-E986-459D-A5DB-DDDDEF2D26C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3107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Software Cannot be Project-Based.  Project-Based has a fixed duration, limited funding, and a lack of ownership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54E59-E986-459D-A5DB-DDDDEF2D26C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51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85% Increase in Development Velocity compared to the best performing teams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54E59-E986-459D-A5DB-DDDDEF2D26C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575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54E59-E986-459D-A5DB-DDDDEF2D26C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5828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Leading identifier in high performing organizations is Psychological Safety</a:t>
            </a:r>
          </a:p>
          <a:p>
            <a:endParaRPr lang="en-US" dirty="0"/>
          </a:p>
          <a:p>
            <a:r>
              <a:rPr lang="en-US" dirty="0"/>
              <a:t>"If I am a senior leader and my team doesn't feel comfortable sharing risks then I will never truly know reality" - Nicole </a:t>
            </a:r>
            <a:r>
              <a:rPr lang="en-US" dirty="0" err="1"/>
              <a:t>Forsgren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54E59-E986-459D-A5DB-DDDDEF2D26C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1384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for understanding, not to reply.</a:t>
            </a:r>
          </a:p>
          <a:p>
            <a:r>
              <a:rPr lang="en-US" dirty="0"/>
              <a:t>Engage with your coworkers beyond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54E59-E986-459D-A5DB-DDDDEF2D26C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911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91E76-DEC9-4133-807D-14D1EAF9A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3591C5-50DE-454F-8A13-73D5A0425F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97A4B-2C2F-4617-A35C-92AC4F7DD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ABDE-B264-459D-BCF8-42C65582240D}" type="datetime1">
              <a:rPr lang="en-US" smtClean="0"/>
              <a:t>12/13/2019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374C5-9159-4E71-B2A1-F6BE7EFB6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8D102-E490-469F-A953-1F3F36F04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CE42-1BCF-446A-9BD0-3DA21B8B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08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A3B6E-0AC8-4F17-A798-6697EBBB9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FCC48-7BD2-4105-8CC4-E264AA4BE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B02DF-43DC-4825-AFE2-563CCE768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C0D7A-F6FC-4DA8-BF80-C2CEC60A5BAC}" type="datetime1">
              <a:rPr lang="en-US" smtClean="0"/>
              <a:t>12/13/2019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E3C79-5979-452C-8743-2805F4F5F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48900-295F-4B4C-993F-DB3FC6F8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CE42-1BCF-446A-9BD0-3DA21B8B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0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8487-EF79-471E-AC15-5C23C0173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2EA68-00F4-4AD4-B30F-12D21F66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5E6B7-EB0C-4F46-BC28-D0C83579C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6F0AD-FCAB-4ABA-9BC4-6DA5D1FCEB57}" type="datetime1">
              <a:rPr lang="en-US" smtClean="0"/>
              <a:t>12/13/2019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765E6-CDBD-46C4-AFB2-C6E8EF874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8665F-C3CA-4C2E-9030-CA28B9ED5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CE42-1BCF-446A-9BD0-3DA21B8B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272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ED30C-81A3-491F-8AFE-5C870A502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6BF29-703A-4A50-AE1B-69523DB37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4BC40-F737-4522-92D0-EFCA7214D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D59A2-7905-4544-A00E-152BB643E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37B7-EF3D-4C42-BCE2-3F90694B803B}" type="datetime1">
              <a:rPr lang="en-US" smtClean="0"/>
              <a:t>12/13/2019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72C4E-7D7C-4B62-9DB5-B73CC12C7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BAFEC-D0D8-4D8E-8032-66DC385E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CE42-1BCF-446A-9BD0-3DA21B8B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0E2EF-AA84-4D5D-9CE3-120364734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31869-10ED-4F0F-BD70-A77D9A6D2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11DBF-7687-4F75-B8AF-3C577A926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B55605-0D30-4CE0-9DF8-B57617C017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DE05A5-624F-4D27-B9A1-3E43FBC942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97F33B-5BCC-440D-80F7-2D6D0D8A9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16447-1281-45FA-8BD8-FA1A6DA8EEDE}" type="datetime1">
              <a:rPr lang="en-US" smtClean="0"/>
              <a:t>12/13/2019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244381-36FF-4173-A949-AFC6D1029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41EFF8-63EE-4DC4-881C-CBF5D238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CE42-1BCF-446A-9BD0-3DA21B8B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875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9562F-39C3-4D01-B301-6C647E09C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008987-3156-4E2D-BAAE-19DEE009A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86C8-DE57-4ACE-A098-6AF934867632}" type="datetime1">
              <a:rPr lang="en-US" smtClean="0"/>
              <a:t>12/13/2019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9D252-1278-4804-8E2B-0499F5329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C592D-41D9-4CAF-A997-A54FA305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CE42-1BCF-446A-9BD0-3DA21B8B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4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6CB33E-F274-4596-B9F4-FE5DBE034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AE70-6171-474F-A000-2A8AE30E41C5}" type="datetime1">
              <a:rPr lang="en-US" smtClean="0"/>
              <a:t>12/13/2019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E8154-5704-48DA-B932-D83CA6A1F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A902B-3D3B-44B4-8CB6-920A6F9C4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CE42-1BCF-446A-9BD0-3DA21B8B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66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30989-B585-4124-AD15-5E8B8B7A0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83BCF-BAE8-4536-B871-88ACB4B62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63F35-5779-46B0-957E-FC68924E3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041DA-A48E-4604-B729-8C5C6A6A9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A6607-C40A-4E88-A5C2-E02F17457963}" type="datetime1">
              <a:rPr lang="en-US" smtClean="0"/>
              <a:t>12/13/2019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CD6F3-41E8-45BF-A082-D3F9B2CD3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46D79-512D-4C9E-A10C-DA5882761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CE42-1BCF-446A-9BD0-3DA21B8B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35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BC8D7-E93B-438C-80F5-E3949EB9C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2E9977-17C6-4EB6-9FBE-AFD1B64CA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E0A72-5AA0-4D0D-B0CB-2954ACEC3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45BCF-C6DA-4036-BF73-0BFB24B35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818FB-6F86-4991-9693-C2BAEA8C9D98}" type="datetime1">
              <a:rPr lang="en-US" smtClean="0"/>
              <a:t>12/13/2019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8CD44-E66F-46F7-9180-A8D4889C9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FD02E-23F8-4914-8882-DD1D183BB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CE42-1BCF-446A-9BD0-3DA21B8B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572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BBBE8-2A5E-4820-B0A9-0D18180C0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46B9E-6CDA-40D1-ADAD-B358D62BF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EE3E6-CE31-4B78-BB21-393872412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48BA-91E8-44E1-B9DC-9BE4E6CB1AD3}" type="datetime1">
              <a:rPr lang="en-US" smtClean="0"/>
              <a:t>12/13/2019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B2A04-F89C-4DF9-AC0F-5F4841716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883B7-B12D-4995-99AE-3D89FECE3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CE42-1BCF-446A-9BD0-3DA21B8B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92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271572-49DD-46D2-8213-5FD294BD14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EDF97-0875-42E4-B51A-0F089C87B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9BEF5-B7D1-4282-B818-39CF599C8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01202-B9B1-4119-91F4-E44590E4B3FE}" type="datetime1">
              <a:rPr lang="en-US" smtClean="0"/>
              <a:t>12/13/2019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C4A00-5308-49D2-B951-631E78831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89454-7587-49D5-9F6A-99A9C203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1CE42-1BCF-446A-9BD0-3DA21B8B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148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D4477A-F847-4505-B722-980467F44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84CA2-3F41-46A3-8677-41BF6DE8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53678-B96F-4CEE-A696-DB946419A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CB3C9-5483-44D7-9A20-F9442C6A0A7C}" type="datetime1">
              <a:rPr lang="en-US" smtClean="0"/>
              <a:t>12/13/2019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F0800-7A7E-4B34-9302-A3A170FE69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https://ikethe.dev/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6BE3F-B25F-4894-A96A-352A4223D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1CE42-1BCF-446A-9BD0-3DA21B8B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72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napoleon-jones-1469a157/" TargetMode="External"/><Relationship Id="rId2" Type="http://schemas.openxmlformats.org/officeDocument/2006/relationships/hyperlink" Target="https://ikethe.dev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05EE61-6258-4F35-A374-AB581E3B3A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Empathetic DevOps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6CB1CEB-6EA0-42B3-8927-B4A2B41ADF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- Ike Jones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50D32A-BE3F-425F-A02E-0DA2CA6C6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4023436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9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55DA4-EF49-4D40-A02D-F86E861BB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Waterfall Methodology</a:t>
            </a:r>
            <a:endParaRPr lang="en-US" sz="1800" i="1" dirty="0">
              <a:cs typeface="Calibri"/>
            </a:endParaRPr>
          </a:p>
          <a:p>
            <a:r>
              <a:rPr lang="en-US" sz="1800" dirty="0"/>
              <a:t>Monolith Applications</a:t>
            </a:r>
            <a:endParaRPr lang="en-US" sz="1800" i="1" dirty="0">
              <a:cs typeface="Calibri"/>
            </a:endParaRPr>
          </a:p>
          <a:p>
            <a:r>
              <a:rPr lang="en-US" sz="1800" dirty="0"/>
              <a:t>Source Control?</a:t>
            </a:r>
            <a:endParaRPr lang="en-US" sz="1800" i="1" dirty="0">
              <a:cs typeface="Calibri"/>
            </a:endParaRPr>
          </a:p>
          <a:p>
            <a:r>
              <a:rPr lang="en-US" sz="1800" dirty="0"/>
              <a:t>Peer Reviews?</a:t>
            </a:r>
            <a:endParaRPr lang="en-US" sz="1800" i="1" dirty="0">
              <a:cs typeface="Calibri"/>
            </a:endParaRPr>
          </a:p>
          <a:p>
            <a:r>
              <a:rPr lang="en-US" sz="1800" dirty="0"/>
              <a:t>Manual Deployments</a:t>
            </a:r>
            <a:endParaRPr lang="en-US" sz="1800" i="1" dirty="0">
              <a:cs typeface="Calibri"/>
            </a:endParaRP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5" name="Picture 4" descr="A picture containing painting, old, sitting, man&#10;&#10;Description automatically generated">
            <a:extLst>
              <a:ext uri="{FF2B5EF4-FFF2-40B4-BE49-F238E27FC236}">
                <a16:creationId xmlns:a16="http://schemas.microsoft.com/office/drawing/2014/main" id="{850F3C19-3DA6-40CC-978B-BA16A5310A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1" r="9157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B9EE32A8-C4DF-4C02-97E4-855B45AD1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Land Before Time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6F4EB32-AFCB-410F-BC7F-9D9B045E1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2236054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65572F8-A908-4F92-95BD-FC59D9BC0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86" y="2772257"/>
            <a:ext cx="5442842" cy="34622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Agile Manifesto</a:t>
            </a:r>
          </a:p>
          <a:p>
            <a:r>
              <a:rPr lang="en-US" sz="1800" i="1" dirty="0">
                <a:cs typeface="Calibri"/>
              </a:rPr>
              <a:t>Deliver Early, Deliver Often</a:t>
            </a:r>
          </a:p>
          <a:p>
            <a:r>
              <a:rPr lang="en-US" sz="1800" i="1" dirty="0">
                <a:cs typeface="Calibri"/>
              </a:rPr>
              <a:t>Focus on Delivering Value</a:t>
            </a:r>
          </a:p>
          <a:p>
            <a:r>
              <a:rPr lang="en-US" sz="1800" dirty="0"/>
              <a:t>Continual Improvement</a:t>
            </a:r>
          </a:p>
          <a:p>
            <a:r>
              <a:rPr lang="en-US" sz="1800" i="1" dirty="0">
                <a:cs typeface="Calibri"/>
              </a:rPr>
              <a:t>Cross-Functional Teams</a:t>
            </a:r>
          </a:p>
          <a:p>
            <a:r>
              <a:rPr lang="en-US" sz="1800" dirty="0"/>
              <a:t>Improved Source Control/Versioning</a:t>
            </a:r>
          </a:p>
          <a:p>
            <a:r>
              <a:rPr lang="en-US" sz="1800" dirty="0"/>
              <a:t>Reduced Feedback Loop Between Developers and the Customer</a:t>
            </a:r>
          </a:p>
        </p:txBody>
      </p:sp>
      <p:pic>
        <p:nvPicPr>
          <p:cNvPr id="5" name="Content Placeholder 4" descr="A picture containing red, indoor, wearing, looking&#10;&#10;Description automatically generated">
            <a:extLst>
              <a:ext uri="{FF2B5EF4-FFF2-40B4-BE49-F238E27FC236}">
                <a16:creationId xmlns:a16="http://schemas.microsoft.com/office/drawing/2014/main" id="{6BA06ACE-91DB-4EF9-8B23-FE03871F55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94" r="28425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8B70DEF-A08F-4ED2-9DC4-13F80FA6C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2001: A Space Odyssey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DCAD8F-4931-44C9-80E9-6D518135D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2975980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18EE72-8C55-470B-9FBD-6B8EB1D82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What about IT Ops?</a:t>
            </a:r>
            <a:endParaRPr lang="en-US" sz="1800" i="1" dirty="0"/>
          </a:p>
        </p:txBody>
      </p:sp>
      <p:pic>
        <p:nvPicPr>
          <p:cNvPr id="4" name="Picture 3" descr="A picture containing indoor, person, looking, mirror&#10;&#10;Description automatically generated">
            <a:extLst>
              <a:ext uri="{FF2B5EF4-FFF2-40B4-BE49-F238E27FC236}">
                <a16:creationId xmlns:a16="http://schemas.microsoft.com/office/drawing/2014/main" id="{FB5DEAC2-7766-4B03-8034-F2EB51F07F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2" r="20400" b="-1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762C321-FDC1-4F93-943A-D5C82CB50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Alone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BCB592-1061-439E-952C-5CD9532E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2017742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CCC4-E61D-4B39-B6A4-587A38BAA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/>
          </a:bodyPr>
          <a:lstStyle/>
          <a:p>
            <a:r>
              <a:rPr lang="en-US" sz="1800" dirty="0"/>
              <a:t>DevOps</a:t>
            </a:r>
          </a:p>
          <a:p>
            <a:r>
              <a:rPr lang="en-US" sz="1800" dirty="0"/>
              <a:t>Improved Communication/Collaboration Between Developers and Operations</a:t>
            </a:r>
          </a:p>
          <a:p>
            <a:r>
              <a:rPr lang="en-US" sz="1800" dirty="0"/>
              <a:t>Improved CI/CD</a:t>
            </a:r>
          </a:p>
          <a:p>
            <a:r>
              <a:rPr lang="en-US" sz="1800" dirty="0"/>
              <a:t>Automated Deployments</a:t>
            </a:r>
          </a:p>
          <a:p>
            <a:r>
              <a:rPr lang="en-US" sz="1800" dirty="0"/>
              <a:t>Infrastructure as Code</a:t>
            </a:r>
          </a:p>
          <a:p>
            <a:r>
              <a:rPr lang="en-US" sz="1800" dirty="0"/>
              <a:t>Application Performance Monitoring</a:t>
            </a:r>
          </a:p>
          <a:p>
            <a:r>
              <a:rPr lang="en-US" sz="1800" dirty="0"/>
              <a:t>Product/Project Ownership</a:t>
            </a:r>
          </a:p>
          <a:p>
            <a:endParaRPr lang="en-US" sz="1800" dirty="0"/>
          </a:p>
        </p:txBody>
      </p:sp>
      <p:pic>
        <p:nvPicPr>
          <p:cNvPr id="9" name="Picture 8" descr="A person wearing a uniform standing in front of a building&#10;&#10;Description automatically generated">
            <a:extLst>
              <a:ext uri="{FF2B5EF4-FFF2-40B4-BE49-F238E27FC236}">
                <a16:creationId xmlns:a16="http://schemas.microsoft.com/office/drawing/2014/main" id="{7EAA0E50-7152-4F71-9061-DE5CC40E6B6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5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412AEB9-B325-4AC7-928A-67E7CE5D7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Private Ryan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5DEED10-5639-4409-92B1-7D7109AF8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1131553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E6A8C-250A-4C5F-BF40-87E703D03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en-US" dirty="0"/>
              <a:t>The Matrix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1E324C7-D083-4854-8BD6-508A36AAF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/>
          </a:bodyPr>
          <a:lstStyle/>
          <a:p>
            <a:r>
              <a:rPr lang="en-US" sz="1800" dirty="0"/>
              <a:t>Processes Over 135 Million Transactions Per Year</a:t>
            </a:r>
          </a:p>
          <a:p>
            <a:r>
              <a:rPr lang="en-US" sz="1800" dirty="0"/>
              <a:t>Manages Over $1 Trillion in Retirement and Health Benefits</a:t>
            </a:r>
          </a:p>
          <a:p>
            <a:r>
              <a:rPr lang="en-US" sz="1800" dirty="0"/>
              <a:t>Disburses Over $500 Billion Per Year</a:t>
            </a:r>
          </a:p>
          <a:p>
            <a:r>
              <a:rPr lang="en-US" sz="1800" dirty="0"/>
              <a:t>~12,000+ Total Employees</a:t>
            </a:r>
          </a:p>
          <a:p>
            <a:r>
              <a:rPr lang="en-US" sz="1800" dirty="0"/>
              <a:t>~2,000 IT Employees</a:t>
            </a:r>
          </a:p>
          <a:p>
            <a:r>
              <a:rPr lang="en-US" sz="1800" dirty="0"/>
              <a:t>~120 Production Systems</a:t>
            </a:r>
          </a:p>
          <a:p>
            <a:r>
              <a:rPr lang="en-US" sz="1800" dirty="0"/>
              <a:t>Agency’s First Large Agile Project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5" name="Content Placeholder 4" descr="A person standing in front of a mirror posing for the camera&#10;&#10;Description automatically generated">
            <a:extLst>
              <a:ext uri="{FF2B5EF4-FFF2-40B4-BE49-F238E27FC236}">
                <a16:creationId xmlns:a16="http://schemas.microsoft.com/office/drawing/2014/main" id="{B1C89282-45E6-4A48-AB3E-78A4EF984E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0" r="22179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AEE486-033E-45FA-A6DA-7ADB692C1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3741040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60946-62AE-4DF5-A800-8F8D2FFDD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en-US" dirty="0"/>
              <a:t>The Matrix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9EA4AEA-A46C-4649-A058-B5927CC0A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/>
          </a:bodyPr>
          <a:lstStyle/>
          <a:p>
            <a:r>
              <a:rPr lang="en-US" sz="1800" dirty="0"/>
              <a:t>Stay the course?</a:t>
            </a:r>
          </a:p>
          <a:p>
            <a:endParaRPr lang="en-US" sz="1800" dirty="0"/>
          </a:p>
        </p:txBody>
      </p:sp>
      <p:pic>
        <p:nvPicPr>
          <p:cNvPr id="5" name="Content Placeholder 4" descr="A picture containing indoor, person, laying, man&#10;&#10;Description automatically generated">
            <a:extLst>
              <a:ext uri="{FF2B5EF4-FFF2-40B4-BE49-F238E27FC236}">
                <a16:creationId xmlns:a16="http://schemas.microsoft.com/office/drawing/2014/main" id="{A396820C-F6D7-41D9-BCA0-3F8C1596DC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02" r="21717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B37F38-C036-4C43-B032-463C45C88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2237659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78C8B-D75B-4DC6-8BB2-FA7AEB23D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91" y="641023"/>
            <a:ext cx="5120114" cy="1018080"/>
          </a:xfrm>
        </p:spPr>
        <p:txBody>
          <a:bodyPr>
            <a:noAutofit/>
          </a:bodyPr>
          <a:lstStyle/>
          <a:p>
            <a:r>
              <a:rPr lang="en-US" sz="3200" dirty="0"/>
              <a:t>National Lampoon’s Vacation</a:t>
            </a:r>
            <a:endParaRPr lang="en-US" sz="3200" dirty="0">
              <a:cs typeface="Calibri Ligh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F33320F-B3DD-41A7-96BD-42F720207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My DevOps Journey</a:t>
            </a:r>
            <a:endParaRPr lang="en-US" sz="1800" i="1" dirty="0">
              <a:cs typeface="Calibri"/>
            </a:endParaRPr>
          </a:p>
        </p:txBody>
      </p:sp>
      <p:pic>
        <p:nvPicPr>
          <p:cNvPr id="5" name="Content Placeholder 4" descr="A group of people smiling for the camera&#10;&#10;Description automatically generated">
            <a:extLst>
              <a:ext uri="{FF2B5EF4-FFF2-40B4-BE49-F238E27FC236}">
                <a16:creationId xmlns:a16="http://schemas.microsoft.com/office/drawing/2014/main" id="{ADFA00E4-BDC7-4257-A790-A11FAED622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48" r="15371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8EF9E2-D403-49C9-8B90-F07704BBC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2261272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7F148-B8F2-406F-A3F0-D511E477A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Flow Charting Processes</a:t>
            </a:r>
            <a:endParaRPr lang="en-US" sz="1800" i="1" dirty="0">
              <a:cs typeface="Calibri"/>
            </a:endParaRPr>
          </a:p>
          <a:p>
            <a:r>
              <a:rPr lang="en-US" sz="1800" i="1" dirty="0">
                <a:cs typeface="Calibri"/>
              </a:rPr>
              <a:t>Creating Value Stream Maps</a:t>
            </a:r>
          </a:p>
          <a:p>
            <a:r>
              <a:rPr lang="en-US" sz="1800" dirty="0"/>
              <a:t>Analyzed Multiple Projects</a:t>
            </a:r>
          </a:p>
          <a:p>
            <a:r>
              <a:rPr lang="en-US" sz="1800" i="1" dirty="0">
                <a:cs typeface="Calibri"/>
              </a:rPr>
              <a:t>Collected as Much Data as Possible</a:t>
            </a:r>
          </a:p>
          <a:p>
            <a:endParaRPr lang="en-US" sz="1800" dirty="0"/>
          </a:p>
        </p:txBody>
      </p:sp>
      <p:pic>
        <p:nvPicPr>
          <p:cNvPr id="7" name="Picture 6" descr="A person posing for the camera&#10;&#10;Description automatically generated">
            <a:extLst>
              <a:ext uri="{FF2B5EF4-FFF2-40B4-BE49-F238E27FC236}">
                <a16:creationId xmlns:a16="http://schemas.microsoft.com/office/drawing/2014/main" id="{BB89856C-DA83-49C5-851F-70A6E1F225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34" r="21485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B8DEFE4-45EB-4D5A-8A21-A38B22A09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Beautiful Mind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4C493C4-DAE7-4651-B786-57AE529A9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2274155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57919-DE8B-4E4A-84F2-77AD94D55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en-US" dirty="0"/>
              <a:t>Hidden Figures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83BE96A1-46A8-4929-8672-B272C21DD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Average 27 Days Between Feature Request and Development</a:t>
            </a:r>
          </a:p>
          <a:p>
            <a:r>
              <a:rPr lang="en-US" sz="1800" dirty="0"/>
              <a:t>Average 93 Days Between Development &amp; Testing</a:t>
            </a:r>
          </a:p>
          <a:p>
            <a:r>
              <a:rPr lang="en-US" sz="1800" dirty="0"/>
              <a:t>Average 187 Days Between Development &amp; Production</a:t>
            </a:r>
          </a:p>
          <a:p>
            <a:r>
              <a:rPr lang="en-US" sz="1800" dirty="0"/>
              <a:t>$60,000 - $110,000 Per Month in Testing</a:t>
            </a:r>
          </a:p>
          <a:p>
            <a:r>
              <a:rPr lang="en-US" sz="1800" dirty="0"/>
              <a:t>6 Months – 2yrs  Between Feature Request and Development for Legacy Projects</a:t>
            </a:r>
          </a:p>
          <a:p>
            <a:r>
              <a:rPr lang="en-US" sz="1800" dirty="0"/>
              <a:t>Up to 6yrs for New Features to Reach Production</a:t>
            </a:r>
          </a:p>
          <a:p>
            <a:r>
              <a:rPr lang="en-US" sz="1800" dirty="0"/>
              <a:t>Led Roughly 2,000 Micro-Apps (Access, Excel, Word, FoxPro)</a:t>
            </a:r>
          </a:p>
          <a:p>
            <a:endParaRPr lang="en-US" sz="1800" dirty="0"/>
          </a:p>
        </p:txBody>
      </p:sp>
      <p:pic>
        <p:nvPicPr>
          <p:cNvPr id="11" name="Content Placeholder 10" descr="A person standing in front of a blackboard&#10;&#10;Description automatically generated">
            <a:extLst>
              <a:ext uri="{FF2B5EF4-FFF2-40B4-BE49-F238E27FC236}">
                <a16:creationId xmlns:a16="http://schemas.microsoft.com/office/drawing/2014/main" id="{9A3B03C5-8483-4CD7-97DD-FC453A3C708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465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E5F57-39E5-4B3F-B9C3-D121568CC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3932748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EF13C42-F81A-4917-AAC0-5A07E1080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Evangelizing DevOps</a:t>
            </a:r>
          </a:p>
          <a:p>
            <a:r>
              <a:rPr lang="en-US" sz="1800" i="1" dirty="0">
                <a:cs typeface="Calibri"/>
              </a:rPr>
              <a:t>Explain Data</a:t>
            </a:r>
          </a:p>
          <a:p>
            <a:r>
              <a:rPr lang="en-US" sz="1800" i="1" dirty="0">
                <a:cs typeface="Calibri"/>
              </a:rPr>
              <a:t>Demo New Methodology &amp; Tools</a:t>
            </a:r>
          </a:p>
          <a:p>
            <a:r>
              <a:rPr lang="en-US" sz="1800" i="1" dirty="0">
                <a:cs typeface="Calibri"/>
              </a:rPr>
              <a:t>Building a Coalition</a:t>
            </a:r>
          </a:p>
        </p:txBody>
      </p:sp>
      <p:pic>
        <p:nvPicPr>
          <p:cNvPr id="11" name="Picture 10" descr="A group of people standing in a room&#10;&#10;Description automatically generated">
            <a:extLst>
              <a:ext uri="{FF2B5EF4-FFF2-40B4-BE49-F238E27FC236}">
                <a16:creationId xmlns:a16="http://schemas.microsoft.com/office/drawing/2014/main" id="{4C430166-2EC7-4D77-88C7-8761AA38F2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1" t="-1" r="202" b="-1"/>
          <a:stretch/>
        </p:blipFill>
        <p:spPr>
          <a:xfrm>
            <a:off x="5237340" y="10"/>
            <a:ext cx="758371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E17DE45-E5B3-4A1F-B765-7FF728953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Lean On Me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3AE76-680E-40AB-A3CF-AE6FA3981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1571931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EDA72053-12DF-46EF-9CD8-4C201354D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/>
          </a:bodyPr>
          <a:lstStyle/>
          <a:p>
            <a:r>
              <a:rPr lang="en-US" sz="1800" dirty="0"/>
              <a:t>The Only Purpose of This Slide is to Lead into the Next Slide</a:t>
            </a:r>
          </a:p>
        </p:txBody>
      </p:sp>
      <p:pic>
        <p:nvPicPr>
          <p:cNvPr id="17" name="Content Placeholder 16" descr="A picture containing water, wave, surfing, outdoor&#10;&#10;Description automatically generated">
            <a:extLst>
              <a:ext uri="{FF2B5EF4-FFF2-40B4-BE49-F238E27FC236}">
                <a16:creationId xmlns:a16="http://schemas.microsoft.com/office/drawing/2014/main" id="{0F0CFEE9-38CB-421C-9E34-22A382B4B5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08" r="27711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EF79635-F012-4351-8A92-5971EC7A7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Perfect Storm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06768-9466-4DD2-8C94-6D43455FF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1448681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C187E-1FB2-498C-80ED-891507524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en-US" dirty="0"/>
              <a:t>The Titanic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621162F-7732-493A-AFCD-58F56F880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Epic Failure</a:t>
            </a:r>
            <a:endParaRPr lang="en-US" sz="1800" i="1" dirty="0">
              <a:cs typeface="Calibri"/>
            </a:endParaRPr>
          </a:p>
        </p:txBody>
      </p:sp>
      <p:pic>
        <p:nvPicPr>
          <p:cNvPr id="5" name="Content Placeholder 4" descr="A circuit board&#10;&#10;Description automatically generated">
            <a:extLst>
              <a:ext uri="{FF2B5EF4-FFF2-40B4-BE49-F238E27FC236}">
                <a16:creationId xmlns:a16="http://schemas.microsoft.com/office/drawing/2014/main" id="{D77921B7-1BDF-442D-9EE9-71632DA9C4C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76" r="21982" b="-1"/>
          <a:stretch/>
        </p:blipFill>
        <p:spPr>
          <a:xfrm>
            <a:off x="5227320" y="10"/>
            <a:ext cx="6964679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2708D2-CC7B-4E3F-8DB7-4CAC309BC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280842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6DF5D96-B520-433C-85E9-B414B3263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/>
          </a:bodyPr>
          <a:lstStyle/>
          <a:p>
            <a:r>
              <a:rPr lang="en-US" sz="1800" dirty="0"/>
              <a:t>I Quit</a:t>
            </a:r>
          </a:p>
        </p:txBody>
      </p:sp>
      <p:pic>
        <p:nvPicPr>
          <p:cNvPr id="5" name="Content Placeholder 4" descr="A picture containing grass, outdoor, bicycle, mountain&#10;&#10;Description automatically generated">
            <a:extLst>
              <a:ext uri="{FF2B5EF4-FFF2-40B4-BE49-F238E27FC236}">
                <a16:creationId xmlns:a16="http://schemas.microsoft.com/office/drawing/2014/main" id="{06C029DA-153A-4674-B063-1C83CC939BC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70" r="17542" b="-1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78E4D7E-D3B4-4D64-AECC-233253C59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Great Escape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90738-3FE8-4AD5-97FB-3066B7028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4179168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6EC633DB-963B-4724-8F42-86FF71CB8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Silver Linings Playbook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A76F53C-11E2-4A8E-8B41-2F2EB5A64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Things That Help Teach Us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263D29D7-84CB-4A91-BADC-9CE660CF2B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1800" dirty="0"/>
              <a:t>Shared Context</a:t>
            </a:r>
          </a:p>
          <a:p>
            <a:r>
              <a:rPr lang="en-US" sz="1800" dirty="0"/>
              <a:t>Bi-Directional Communication</a:t>
            </a:r>
          </a:p>
          <a:p>
            <a:r>
              <a:rPr lang="en-US" sz="1800" dirty="0"/>
              <a:t>Scope Management</a:t>
            </a:r>
          </a:p>
          <a:p>
            <a:r>
              <a:rPr lang="en-US" sz="1800" dirty="0"/>
              <a:t>Project-Based Development</a:t>
            </a:r>
          </a:p>
          <a:p>
            <a:r>
              <a:rPr lang="en-US" sz="1800" dirty="0"/>
              <a:t>Scaling IT Processes</a:t>
            </a:r>
          </a:p>
          <a:p>
            <a:r>
              <a:rPr lang="en-US" sz="1800" dirty="0"/>
              <a:t>Testing</a:t>
            </a:r>
          </a:p>
          <a:p>
            <a:r>
              <a:rPr lang="en-US" sz="1800" dirty="0"/>
              <a:t>Culture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3" name="Picture 22" descr="Two people walking down a street&#10;&#10;Description automatically generated">
            <a:extLst>
              <a:ext uri="{FF2B5EF4-FFF2-40B4-BE49-F238E27FC236}">
                <a16:creationId xmlns:a16="http://schemas.microsoft.com/office/drawing/2014/main" id="{6919178B-9A60-4328-A442-16759396E6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5" r="10392" b="2"/>
          <a:stretch/>
        </p:blipFill>
        <p:spPr>
          <a:xfrm>
            <a:off x="6200775" y="10"/>
            <a:ext cx="5991224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4D3D4B2-854B-46DA-B43F-34713E62D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2858311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6EC633DB-963B-4724-8F42-86FF71CB8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Silver Linings Playbook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A76F53C-11E2-4A8E-8B41-2F2EB5A64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What We Did Well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263D29D7-84CB-4A91-BADC-9CE660CF2B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1800" dirty="0"/>
              <a:t>Increased Development Velocity</a:t>
            </a:r>
          </a:p>
          <a:p>
            <a:r>
              <a:rPr lang="en-US" sz="1800" dirty="0"/>
              <a:t>Incident Response/Management</a:t>
            </a:r>
          </a:p>
          <a:p>
            <a:r>
              <a:rPr lang="en-US" sz="1800" dirty="0"/>
              <a:t>Partner Collaboration</a:t>
            </a:r>
          </a:p>
          <a:p>
            <a:r>
              <a:rPr lang="en-US" sz="1800" dirty="0"/>
              <a:t>Customer Engagement</a:t>
            </a:r>
          </a:p>
          <a:p>
            <a:r>
              <a:rPr lang="en-US" sz="1800" dirty="0"/>
              <a:t>Feature Development</a:t>
            </a:r>
          </a:p>
          <a:p>
            <a:endParaRPr lang="en-US" dirty="0"/>
          </a:p>
        </p:txBody>
      </p:sp>
      <p:pic>
        <p:nvPicPr>
          <p:cNvPr id="23" name="Picture 22" descr="Two people walking down a street&#10;&#10;Description automatically generated">
            <a:extLst>
              <a:ext uri="{FF2B5EF4-FFF2-40B4-BE49-F238E27FC236}">
                <a16:creationId xmlns:a16="http://schemas.microsoft.com/office/drawing/2014/main" id="{6919178B-9A60-4328-A442-16759396E6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5" r="10392" b="2"/>
          <a:stretch/>
        </p:blipFill>
        <p:spPr>
          <a:xfrm>
            <a:off x="6200775" y="10"/>
            <a:ext cx="5991224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269F79B-DDCA-41C6-B860-9D6F41288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2754715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E8E16-A4EE-438D-8B8F-5CE9D808E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en-US" dirty="0"/>
              <a:t>Edge of Tomorrow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A4505E-1840-4197-98BE-34284347D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/>
          </a:bodyPr>
          <a:lstStyle/>
          <a:p>
            <a:r>
              <a:rPr lang="en-US" sz="1800" dirty="0"/>
              <a:t>Politics</a:t>
            </a:r>
          </a:p>
          <a:p>
            <a:r>
              <a:rPr lang="en-US" sz="1800" dirty="0"/>
              <a:t>Process</a:t>
            </a:r>
          </a:p>
          <a:p>
            <a:r>
              <a:rPr lang="en-US" sz="1800" dirty="0"/>
              <a:t>Culture</a:t>
            </a:r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5" name="Content Placeholder 4" descr="A person that is standing in the snow&#10;&#10;Description automatically generated">
            <a:extLst>
              <a:ext uri="{FF2B5EF4-FFF2-40B4-BE49-F238E27FC236}">
                <a16:creationId xmlns:a16="http://schemas.microsoft.com/office/drawing/2014/main" id="{C97B7DFE-A4D9-420B-BF1E-764583C56C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33" r="14032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F27D96-FBCC-4ABD-847A-E5ED7AEE5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4251366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5166B-921E-4EFE-B0D4-9362DCF78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en-US" dirty="0"/>
              <a:t>Lincoln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8ABCE-21F6-4933-9337-F39A35F99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Political Capital (Above/Below)</a:t>
            </a:r>
          </a:p>
          <a:p>
            <a:r>
              <a:rPr lang="en-US" sz="1800" i="1" dirty="0">
                <a:cs typeface="Calibri"/>
              </a:rPr>
              <a:t>Frame the Issue for the Audience</a:t>
            </a:r>
          </a:p>
          <a:p>
            <a:r>
              <a:rPr lang="en-US" sz="1800" i="1" dirty="0">
                <a:cs typeface="Calibri"/>
              </a:rPr>
              <a:t>Timing</a:t>
            </a:r>
          </a:p>
          <a:p>
            <a:r>
              <a:rPr lang="en-US" sz="1800" i="1" dirty="0">
                <a:cs typeface="Calibri"/>
              </a:rPr>
              <a:t>Go Rogue (if possible)</a:t>
            </a:r>
          </a:p>
          <a:p>
            <a:r>
              <a:rPr lang="en-US" sz="1800" i="1" dirty="0">
                <a:cs typeface="Calibri"/>
              </a:rPr>
              <a:t>Eliminate External Gatekeeping (HR, Multiple Stakeholders)</a:t>
            </a:r>
          </a:p>
        </p:txBody>
      </p:sp>
      <p:pic>
        <p:nvPicPr>
          <p:cNvPr id="5" name="Picture 4" descr="A group of people sitting on a bench&#10;&#10;Description automatically generated">
            <a:extLst>
              <a:ext uri="{FF2B5EF4-FFF2-40B4-BE49-F238E27FC236}">
                <a16:creationId xmlns:a16="http://schemas.microsoft.com/office/drawing/2014/main" id="{38DE42AE-468E-46DA-8056-546CCCA1EE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67" r="7049"/>
          <a:stretch/>
        </p:blipFill>
        <p:spPr>
          <a:xfrm>
            <a:off x="5227320" y="10"/>
            <a:ext cx="6964679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BDA9AA-884C-4BB5-801B-9DF2D9D3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3830994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98CB4-0F22-4EC3-898E-3CB03E3FA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07975"/>
            <a:ext cx="5120114" cy="1692794"/>
          </a:xfrm>
        </p:spPr>
        <p:txBody>
          <a:bodyPr>
            <a:normAutofit/>
          </a:bodyPr>
          <a:lstStyle/>
          <a:p>
            <a:r>
              <a:rPr lang="en-US" dirty="0"/>
              <a:t>Office Space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8E2A8-6B65-4F54-A03C-8F7F52A97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/>
          </a:bodyPr>
          <a:lstStyle/>
          <a:p>
            <a:r>
              <a:rPr lang="en-US" sz="1800" dirty="0"/>
              <a:t>Develop Processes that Empower Teams</a:t>
            </a:r>
          </a:p>
          <a:p>
            <a:r>
              <a:rPr lang="en-US" sz="1800" dirty="0"/>
              <a:t>Customized Processes Per Team</a:t>
            </a:r>
          </a:p>
          <a:p>
            <a:r>
              <a:rPr lang="en-US" sz="1800" dirty="0"/>
              <a:t>Automate Where Possible</a:t>
            </a:r>
          </a:p>
          <a:p>
            <a:r>
              <a:rPr lang="en-US" sz="1800" dirty="0"/>
              <a:t>Eliminate Gatekeeping</a:t>
            </a:r>
          </a:p>
          <a:p>
            <a:endParaRPr lang="en-US" sz="1800" dirty="0"/>
          </a:p>
        </p:txBody>
      </p:sp>
      <p:pic>
        <p:nvPicPr>
          <p:cNvPr id="5" name="Picture 4" descr="A person standing in front of a building&#10;&#10;Description automatically generated">
            <a:extLst>
              <a:ext uri="{FF2B5EF4-FFF2-40B4-BE49-F238E27FC236}">
                <a16:creationId xmlns:a16="http://schemas.microsoft.com/office/drawing/2014/main" id="{3598989F-BE55-4303-B7CB-CA894F559B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28" r="9828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BF4C7-EC05-4C11-BEB0-04B6AA355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240596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04A1625-E381-43DC-BAC1-3C9AC4353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i="1" dirty="0"/>
              <a:t>Psychological Safety</a:t>
            </a:r>
          </a:p>
          <a:p>
            <a:r>
              <a:rPr lang="en-US" sz="1800" i="1" dirty="0"/>
              <a:t>Promote Empathy</a:t>
            </a:r>
          </a:p>
          <a:p>
            <a:r>
              <a:rPr lang="en-US" sz="1800" i="1" dirty="0"/>
              <a:t>Life-Work Balance</a:t>
            </a:r>
          </a:p>
          <a:p>
            <a:r>
              <a:rPr lang="en-US" sz="1800" i="1" dirty="0"/>
              <a:t>Trust</a:t>
            </a:r>
          </a:p>
          <a:p>
            <a:r>
              <a:rPr lang="en-US" sz="1800" i="1" dirty="0"/>
              <a:t>Embrace Diversity</a:t>
            </a:r>
          </a:p>
          <a:p>
            <a:r>
              <a:rPr lang="en-US" sz="1800" i="1" dirty="0"/>
              <a:t>Define Values</a:t>
            </a:r>
          </a:p>
          <a:p>
            <a:r>
              <a:rPr lang="en-US" sz="1800" i="1" dirty="0">
                <a:cs typeface="Calibri"/>
              </a:rPr>
              <a:t>Make Learning a Priority</a:t>
            </a:r>
          </a:p>
          <a:p>
            <a:r>
              <a:rPr lang="en-US" sz="1800" i="1" dirty="0">
                <a:cs typeface="Calibri"/>
              </a:rPr>
              <a:t>Practice Blamelessness</a:t>
            </a:r>
          </a:p>
        </p:txBody>
      </p:sp>
      <p:pic>
        <p:nvPicPr>
          <p:cNvPr id="5" name="Content Placeholder 4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D293E73F-B881-4C91-B995-E4816139DBF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82" r="16070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82FD24E-129D-4F78-9860-F499474F6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the Titans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922462-2667-4935-AD4A-7269E373D158}"/>
              </a:ext>
            </a:extLst>
          </p:cNvPr>
          <p:cNvSpPr txBox="1"/>
          <p:nvPr/>
        </p:nvSpPr>
        <p:spPr>
          <a:xfrm>
            <a:off x="367646" y="5769204"/>
            <a:ext cx="72115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"If I am a senior leader and my team doesn't feel comfortable sharing risks then I will never truly know reality“</a:t>
            </a:r>
            <a:br>
              <a:rPr lang="en-US" dirty="0"/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 Nicole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Forsgren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C3132A-E03E-42FB-A311-D12522D5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3155804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6D8A46-DD45-49E8-A9D5-2A4B93A91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Build a Culture of Empathy</a:t>
            </a:r>
          </a:p>
          <a:p>
            <a:r>
              <a:rPr lang="en-US" sz="1800" dirty="0"/>
              <a:t>Enables Compassion and Understanding</a:t>
            </a:r>
          </a:p>
          <a:p>
            <a:r>
              <a:rPr lang="en-US" sz="1800" i="1" dirty="0">
                <a:cs typeface="Calibri"/>
              </a:rPr>
              <a:t>Allows People to Embrace Our Differences</a:t>
            </a:r>
          </a:p>
          <a:p>
            <a:r>
              <a:rPr lang="en-US" sz="1800" dirty="0"/>
              <a:t>Practice Active Listening</a:t>
            </a:r>
          </a:p>
          <a:p>
            <a:r>
              <a:rPr lang="en-US" sz="1800" dirty="0">
                <a:cs typeface="Calibri"/>
              </a:rPr>
              <a:t>Avoid Making Assumptions</a:t>
            </a:r>
          </a:p>
          <a:p>
            <a:r>
              <a:rPr lang="en-US" sz="1800" dirty="0">
                <a:cs typeface="Calibri"/>
              </a:rPr>
              <a:t>Build Positive Personal Relationships</a:t>
            </a:r>
          </a:p>
          <a:p>
            <a:endParaRPr lang="en-US" sz="1800" dirty="0"/>
          </a:p>
        </p:txBody>
      </p:sp>
      <p:pic>
        <p:nvPicPr>
          <p:cNvPr id="5" name="Content Placeholder 4" descr="Two people smiling for the camera&#10;&#10;Description automatically generated">
            <a:extLst>
              <a:ext uri="{FF2B5EF4-FFF2-40B4-BE49-F238E27FC236}">
                <a16:creationId xmlns:a16="http://schemas.microsoft.com/office/drawing/2014/main" id="{B6E7D5A6-B49E-44DF-A623-5E57D5D4A6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0" r="32541" b="1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7F96B23-69A4-4C73-88C1-1A4B719C4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Love Actually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EE4059B-35C2-41DF-A342-71DDA23F1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1963062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1B488-D004-4DB4-A030-50277C9DB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NeverEnding</a:t>
            </a:r>
            <a:r>
              <a:rPr lang="en-US" dirty="0"/>
              <a:t> Story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FBF3C4F-1992-4611-AA46-70DF4BD9D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/>
          </a:bodyPr>
          <a:lstStyle/>
          <a:p>
            <a:r>
              <a:rPr lang="en-US" sz="1800" dirty="0"/>
              <a:t>Make Small Incremental Changes</a:t>
            </a:r>
          </a:p>
          <a:p>
            <a:r>
              <a:rPr lang="en-US" sz="1800" dirty="0"/>
              <a:t>Find a Pain Point, Fix It, and Move to the Next</a:t>
            </a:r>
          </a:p>
          <a:p>
            <a:r>
              <a:rPr lang="en-US" sz="1800" dirty="0"/>
              <a:t>Continue to Learn and Grow</a:t>
            </a:r>
          </a:p>
          <a:p>
            <a:endParaRPr lang="en-US" sz="1800" dirty="0"/>
          </a:p>
        </p:txBody>
      </p:sp>
      <p:pic>
        <p:nvPicPr>
          <p:cNvPr id="5" name="Content Placeholder 4" descr="A person with smoke coming out of it&#10;&#10;Description automatically generated">
            <a:extLst>
              <a:ext uri="{FF2B5EF4-FFF2-40B4-BE49-F238E27FC236}">
                <a16:creationId xmlns:a16="http://schemas.microsoft.com/office/drawing/2014/main" id="{5CE2F93E-CFAE-4E9F-A058-A4121A40DE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09" r="23610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4811E0-B6E5-4FCF-955F-F594D2568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3225085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44814-6A3C-4F36-B1BD-7983FE3C9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Napoleon “Ike” Jones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654DC-834B-4319-96CD-833315B13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Website:  </a:t>
            </a:r>
            <a:r>
              <a:rPr lang="en-US" dirty="0">
                <a:hlinkClick r:id="rId2"/>
              </a:rPr>
              <a:t>https://ikethe.dev/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Twitter:  @</a:t>
            </a:r>
            <a:r>
              <a:rPr lang="en-US" dirty="0" err="1"/>
              <a:t>ikethedev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LinkedIn:  </a:t>
            </a:r>
            <a:r>
              <a:rPr lang="en-US" dirty="0">
                <a:hlinkClick r:id="rId3"/>
              </a:rPr>
              <a:t>https://www.linkedin.com/in/napoleon-jones-1469a157/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Email:  napoleon.i.jones.3@gmail.com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58142-3F94-471D-B356-0957C6253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https://ikethe.dev/</a:t>
            </a:r>
          </a:p>
        </p:txBody>
      </p:sp>
    </p:spTree>
    <p:extLst>
      <p:ext uri="{BB962C8B-B14F-4D97-AF65-F5344CB8AC3E}">
        <p14:creationId xmlns:p14="http://schemas.microsoft.com/office/powerpoint/2010/main" val="3904825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1508</TotalTime>
  <Words>889</Words>
  <Application>Microsoft Office PowerPoint</Application>
  <PresentationFormat>Widescreen</PresentationFormat>
  <Paragraphs>179</Paragraphs>
  <Slides>23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Empathetic DevOps</vt:lpstr>
      <vt:lpstr>The Land Before Time</vt:lpstr>
      <vt:lpstr>2001: A Space Odyssey</vt:lpstr>
      <vt:lpstr>Home Alone</vt:lpstr>
      <vt:lpstr>Saving Private Ryan</vt:lpstr>
      <vt:lpstr>The Matrix</vt:lpstr>
      <vt:lpstr>The Matrix</vt:lpstr>
      <vt:lpstr>National Lampoon’s Vacation</vt:lpstr>
      <vt:lpstr>A Beautiful Mind</vt:lpstr>
      <vt:lpstr>Hidden Figures</vt:lpstr>
      <vt:lpstr>Lean On Me</vt:lpstr>
      <vt:lpstr>The Perfect Storm</vt:lpstr>
      <vt:lpstr>The Titanic</vt:lpstr>
      <vt:lpstr>The Great Escape</vt:lpstr>
      <vt:lpstr>Silver Linings Playbook</vt:lpstr>
      <vt:lpstr>Silver Linings Playbook</vt:lpstr>
      <vt:lpstr>Edge of Tomorrow</vt:lpstr>
      <vt:lpstr>Lincoln</vt:lpstr>
      <vt:lpstr>Office Space</vt:lpstr>
      <vt:lpstr>Remember the Titans</vt:lpstr>
      <vt:lpstr>Love Actually</vt:lpstr>
      <vt:lpstr>The NeverEnding Story</vt:lpstr>
      <vt:lpstr>Napoleon “Ike” Jones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Empathetic DevOps</dc:title>
  <dc:creator>N Jones</dc:creator>
  <cp:lastModifiedBy>N Jones</cp:lastModifiedBy>
  <cp:revision>9</cp:revision>
  <dcterms:created xsi:type="dcterms:W3CDTF">2019-12-14T03:43:18Z</dcterms:created>
  <dcterms:modified xsi:type="dcterms:W3CDTF">2019-12-15T04:51:35Z</dcterms:modified>
</cp:coreProperties>
</file>